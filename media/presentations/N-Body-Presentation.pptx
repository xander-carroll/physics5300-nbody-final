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75" r:id="rId6"/>
    <p:sldId id="262" r:id="rId7"/>
    <p:sldId id="257" r:id="rId8"/>
    <p:sldId id="258" r:id="rId9"/>
    <p:sldId id="259" r:id="rId10"/>
    <p:sldId id="260" r:id="rId11"/>
    <p:sldId id="261" r:id="rId12"/>
    <p:sldId id="263" r:id="rId13"/>
    <p:sldId id="264" r:id="rId14"/>
    <p:sldId id="266" r:id="rId15"/>
    <p:sldId id="269" r:id="rId16"/>
    <p:sldId id="271" r:id="rId17"/>
    <p:sldId id="272" r:id="rId18"/>
    <p:sldId id="273" r:id="rId19"/>
    <p:sldId id="274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ADAB9-FFFD-44D2-B467-7A8AC4FB9F25}" v="1" dt="2025-12-09T09:56:41.449"/>
    <p1510:client id="{F9A467F8-0CE9-429C-81AF-5E06FE377347}" v="737" dt="2025-12-09T09:45:52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935" autoAdjust="0"/>
  </p:normalViewPr>
  <p:slideViewPr>
    <p:cSldViewPr snapToGrid="0">
      <p:cViewPr varScale="1">
        <p:scale>
          <a:sx n="90" d="100"/>
          <a:sy n="90" d="100"/>
        </p:scale>
        <p:origin x="13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CBB01-639B-47B0-AD97-4339746E2D7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DA74E-C8A9-46F0-BB19-7A3456F23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5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body is described by a mass, position, and velocity. Given the initial position and velocity of each mass, we would like to know the resulting orbits.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4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are going to solve this problem using a </a:t>
            </a:r>
            <a:r>
              <a:rPr lang="en-US" dirty="0" err="1"/>
              <a:t>Lagrangian</a:t>
            </a:r>
            <a:r>
              <a:rPr lang="en-US" dirty="0"/>
              <a:t> approach. So we need to know the KE and PE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4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KE is simple. It is just the sum of kinetic energies from each body.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13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PE is also fairly simple. It is the sum of gravitational potentials between each pair of bodies.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81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gives us our </a:t>
            </a:r>
            <a:r>
              <a:rPr lang="en-US" dirty="0" err="1"/>
              <a:t>Lagrangian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7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Which we can use to solve for our equations of motion.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Integrating r-dot is easy.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Integrating r is a little harder.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57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equation of motion then looks very familiar. </a:t>
            </a:r>
          </a:p>
          <a:p>
            <a:endParaRPr lang="en-US" dirty="0"/>
          </a:p>
          <a:p>
            <a:r>
              <a:rPr lang="en-US" dirty="0"/>
              <a:t>The force acting on each body is the sum of gravitational forces from each other body. F = </a:t>
            </a:r>
            <a:r>
              <a:rPr lang="en-US" dirty="0" err="1"/>
              <a:t>Gmm</a:t>
            </a:r>
            <a:r>
              <a:rPr lang="en-US" dirty="0"/>
              <a:t>/r^2.</a:t>
            </a:r>
          </a:p>
          <a:p>
            <a:r>
              <a:rPr lang="en-US" dirty="0"/>
              <a:t>- The (</a:t>
            </a:r>
            <a:r>
              <a:rPr lang="en-US" dirty="0" err="1"/>
              <a:t>ri</a:t>
            </a:r>
            <a:r>
              <a:rPr lang="en-US" dirty="0"/>
              <a:t> - </a:t>
            </a:r>
            <a:r>
              <a:rPr lang="en-US" dirty="0" err="1"/>
              <a:t>rj</a:t>
            </a:r>
            <a:r>
              <a:rPr lang="en-US" dirty="0"/>
              <a:t>) term in the numerator gives the direction of the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95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then use your favorite numerical integration method to solve the problem. In this case, Leapfrog was used.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We find the velocity half a time step out.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use that velocity to find the position a full time step out.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Then we move the velocity the other half time step forward.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At this point I was ready to begin testing. I choose a few simple test cases to verify that the integrator was working as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60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started working with 3-body cases for most of my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98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I thought it would be fun to test using our solar system as initial conditions for the bodies.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29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 really wanted to test a simulation with more bodies, so I decided to add a random “asteroid belt” to the solar system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90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 am more of a computer scientist that a physicist. </a:t>
            </a:r>
          </a:p>
          <a:p>
            <a:endParaRPr lang="en-US" dirty="0"/>
          </a:p>
          <a:p>
            <a:r>
              <a:rPr lang="en-US" dirty="0"/>
              <a:t>And computer scientist are really concerned with optimization and analysis of algorithms. </a:t>
            </a:r>
          </a:p>
          <a:p>
            <a:endParaRPr lang="en-US" dirty="0"/>
          </a:p>
          <a:p>
            <a:r>
              <a:rPr lang="en-US" dirty="0"/>
              <a:t>Which begs the question: how should I run a simulation with a very large number of bodies. Say I wanted to simulate whole galaxies.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5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say I wanted to do that without using hundreds of GPU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53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where the idea of “running time” comes in. Computer scientists don’t measure algorithm performance “seconds”. </a:t>
            </a:r>
          </a:p>
          <a:p>
            <a:endParaRPr lang="en-US" dirty="0"/>
          </a:p>
          <a:p>
            <a:r>
              <a:rPr lang="en-US" dirty="0"/>
              <a:t>There are too many variables for that to be a reliable metric.</a:t>
            </a:r>
          </a:p>
          <a:p>
            <a:endParaRPr lang="en-US" dirty="0"/>
          </a:p>
          <a:p>
            <a:r>
              <a:rPr lang="en-US" dirty="0"/>
              <a:t>Instead, we care about how algorithms scale in terms of “operations”. In the N-body problem, operations are a function of the number of bodies. </a:t>
            </a:r>
          </a:p>
          <a:p>
            <a:endParaRPr lang="en-US" dirty="0"/>
          </a:p>
          <a:p>
            <a:r>
              <a:rPr lang="en-US" dirty="0"/>
              <a:t>If we were to use my integrator, it would be n^2 running time. But there is an optimization that lets us bring that down to n log 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36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Barnes-Hut implementation.</a:t>
            </a:r>
          </a:p>
          <a:p>
            <a:endParaRPr lang="en-US" dirty="0"/>
          </a:p>
          <a:p>
            <a:r>
              <a:rPr lang="en-US" dirty="0"/>
              <a:t>We continuously divide into quadrants until every point gets its own square. Then we treat all of the points in a larger square as a single point at their center of mass. </a:t>
            </a:r>
          </a:p>
          <a:p>
            <a:endParaRPr lang="en-US" dirty="0"/>
          </a:p>
          <a:p>
            <a:r>
              <a:rPr lang="en-US" dirty="0"/>
              <a:t>This lets us compute signifyingly fewer force terms – if we are willing to sacrifice some of the physics.</a:t>
            </a:r>
          </a:p>
          <a:p>
            <a:endParaRPr lang="en-US" dirty="0"/>
          </a:p>
          <a:p>
            <a:r>
              <a:rPr lang="en-US" dirty="0"/>
              <a:t>When we decide that this is too difficult to implement, we can keep our research-quality code and ask OSC for </a:t>
            </a:r>
            <a:r>
              <a:rPr lang="en-US"/>
              <a:t>more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81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4FFA-6EFD-FCDA-7E7D-C0522CE9A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859E3-E65B-B187-C957-BB39B20BD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20938-5C37-2EBE-E0FB-F5010CAF8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BBEA3-F2C8-448D-6B64-E2E8B2816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57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A169-408B-94BD-1FFD-0F6B28C71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29FC7-994A-1C56-BB5D-CEEFABB35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51E14-2A16-B8BC-1345-8BF833242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0EB4-8011-A8EC-576D-3A3D5F57A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A74E-C8A9-46F0-BB19-7A3456F230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04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8FBF-44F2-2A58-4F85-58C234B09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EEAE3-A811-26C7-0573-C865451E2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2B58E-1414-6A3E-437B-117A698B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A974B-42C3-5DC6-B053-CA30DD38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DFE01-BCB5-E324-42B1-8027D941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6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B436-5AC3-15BA-0672-D502CA8E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812B-13EA-2CD6-D085-DC82115CE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89058-DBD3-7497-459B-36C33180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B8CE8-F143-7663-40F2-6AFDB2044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A89CC-0D0B-8936-B866-A7305DC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B6A8-2339-A175-2BF9-34D2931D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51F32-4C22-08AD-042D-2F09FA05F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CBD1E-D288-A520-BB8E-7C8D694B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B81B9-0D60-0B5B-3536-49070E8F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EF60-AE21-5A05-AD7B-9AAF0014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2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A643-A356-50B1-E616-B565B547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107E-8281-8AF7-2E90-E94E56052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7232-E544-0E97-19DF-F5F5570BA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B7E2F-70A9-27EC-6BBD-85503A99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F8E60-BF9E-2C7C-EC31-F2E36411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B96BC-C2C6-0E5F-1A3F-C10C3375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8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2739-90F9-D980-D924-83ABC5CF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97159-80B8-E886-2381-A1B2F7418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F57C9-1688-F9AB-4657-74466C9E6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A3C81-C3C3-D603-0F2E-A9F6E1259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CDB98-4782-8176-8D91-5D70DBB1A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A95BD-EC44-2AAC-D0BB-473D1B038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5D42B-04F4-5BA4-22E0-7D0C56D5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F5CFA-66A3-21A6-5569-B306F10E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2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3661-41B2-E53E-90C7-C7EEEA1F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36681-1A96-C84D-F7CE-A93B1F80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398A1-9D0A-ADA3-DCBE-ED1BF8E7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1DD45-9346-92EB-51AC-978A2A9D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00BA3D-9CD2-E1CB-4DDC-95808AA5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CE632-1525-4213-E976-34E5A3B1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8ECCC-86BC-2335-C60F-CECE68FD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6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3002-1210-2E51-9353-CA8EA3F7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B553B-6A12-2E68-4738-CBCE65C16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442EB-BEDC-99BA-82CC-C44F7E6E7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D3860-E737-9FC7-1660-D5188BBA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855F5-6B36-3C18-9D09-511FEABD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4037C-34C5-0728-8856-298F8B08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4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514E-3289-32D2-92FB-840C0AC4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35034D-1DA3-21E9-AF0A-F01CC5A9F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B640C-2983-70F3-D4F6-AC91856D0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843C4-0ECB-AC39-01E0-24AB8676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4C771-881D-99DE-14C3-85E45744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624C-82F6-4854-605B-C57944E9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2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D741-0D3E-A437-5D76-ECEBF19C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F698B-EB8A-BEBC-145A-A4A0D66F3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D6DF7-04DD-64B2-EF68-3B1B9C0F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0DB29-888A-AF96-A272-8CA12B6F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E1826-BFDD-0F00-59E0-8347B2FD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1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A12185-6D26-F13E-5501-FC48F964C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9ADFF-3194-BE17-DAB4-28CA9C62A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76267-994A-F268-D077-C3755509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74C2C-43EC-420C-9D77-B64297E3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F8E9C-8B74-9066-8354-89C2DB23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0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DF5CD-2256-93E5-B4FD-29516AEA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0B0ED-8C26-03DD-36C7-4E4ACD7EE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6E105-3659-9EE6-7DCA-F90451388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97BEE-4C46-4274-8AB2-E2323A86F6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415D3-0A37-236C-2188-F57355889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87DEB-6FB7-2C76-D85A-47D5479CB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9CBED-467C-47C8-A4FA-F4128D653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8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D98F-55BB-FF5A-2DD0-2061F971E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N-Body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41B19-AAC6-F7E9-37D6-8F7F6747EA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AU25, Physics 5300, Xander Carroll</a:t>
            </a:r>
          </a:p>
        </p:txBody>
      </p:sp>
    </p:spTree>
    <p:extLst>
      <p:ext uri="{BB962C8B-B14F-4D97-AF65-F5344CB8AC3E}">
        <p14:creationId xmlns:p14="http://schemas.microsoft.com/office/powerpoint/2010/main" val="79167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3739-4A95-6C71-544D-83281320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4BB9-1C24-72B0-9B41-FF5F5940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Coordinates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D8ADCD5-A56B-2705-BCDA-7321E5B8D863}"/>
              </a:ext>
            </a:extLst>
          </p:cNvPr>
          <p:cNvGrpSpPr/>
          <p:nvPr/>
        </p:nvGrpSpPr>
        <p:grpSpPr>
          <a:xfrm>
            <a:off x="3834577" y="2175615"/>
            <a:ext cx="4522846" cy="3859319"/>
            <a:chOff x="3365500" y="1646131"/>
            <a:chExt cx="4522846" cy="3859319"/>
          </a:xfrm>
        </p:grpSpPr>
        <p:pic>
          <p:nvPicPr>
            <p:cNvPr id="3074" name="Picture 2" descr="50+ X Y Axis Stock Illustrations, Royalty-Free Vector Graphics &amp; Clip Art -  iStock | X y axis chart">
              <a:extLst>
                <a:ext uri="{FF2B5EF4-FFF2-40B4-BE49-F238E27FC236}">
                  <a16:creationId xmlns:a16="http://schemas.microsoft.com/office/drawing/2014/main" id="{9D9B1730-2817-3B07-62A4-1829D21C8D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5500" y="2774950"/>
              <a:ext cx="2730500" cy="2730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FF43484-E0C1-9D28-FAE9-643C3BE34FA4}"/>
                    </a:ext>
                  </a:extLst>
                </p:cNvPr>
                <p:cNvSpPr txBox="1"/>
                <p:nvPr/>
              </p:nvSpPr>
              <p:spPr>
                <a:xfrm>
                  <a:off x="3648332" y="2774950"/>
                  <a:ext cx="7782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FF43484-E0C1-9D28-FAE9-643C3BE34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332" y="2774950"/>
                  <a:ext cx="778260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9836" r="-6250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9452091-8618-16D3-DF2E-71041BD32B98}"/>
                    </a:ext>
                  </a:extLst>
                </p:cNvPr>
                <p:cNvSpPr txBox="1"/>
                <p:nvPr/>
              </p:nvSpPr>
              <p:spPr>
                <a:xfrm>
                  <a:off x="5373457" y="4529814"/>
                  <a:ext cx="7782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9452091-8618-16D3-DF2E-71041BD32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3457" y="4529814"/>
                  <a:ext cx="778260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1475" r="-5469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5CF25BC5-5AF9-8305-E759-C213E50DEB4F}"/>
                    </a:ext>
                  </a:extLst>
                </p:cNvPr>
                <p:cNvSpPr/>
                <p:nvPr/>
              </p:nvSpPr>
              <p:spPr>
                <a:xfrm>
                  <a:off x="5855643" y="2025524"/>
                  <a:ext cx="495426" cy="49542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5CF25BC5-5AF9-8305-E759-C213E50DE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5643" y="2025524"/>
                  <a:ext cx="495426" cy="49542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CABEAB0-7A79-34A8-4795-AB025B938E7E}"/>
                    </a:ext>
                  </a:extLst>
                </p:cNvPr>
                <p:cNvSpPr/>
                <p:nvPr/>
              </p:nvSpPr>
              <p:spPr>
                <a:xfrm>
                  <a:off x="6571923" y="3036560"/>
                  <a:ext cx="495426" cy="49542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CABEAB0-7A79-34A8-4795-AB025B938E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1923" y="3036560"/>
                  <a:ext cx="495426" cy="49542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52F2425-1E7F-70CD-0944-CBCD4C4BF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3840" y="2414588"/>
              <a:ext cx="1949291" cy="2408872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22F1E13-1538-BE90-C8BA-2E70876B2CE8}"/>
                    </a:ext>
                  </a:extLst>
                </p:cNvPr>
                <p:cNvSpPr txBox="1"/>
                <p:nvPr/>
              </p:nvSpPr>
              <p:spPr>
                <a:xfrm>
                  <a:off x="4595197" y="2898160"/>
                  <a:ext cx="7782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22F1E13-1538-BE90-C8BA-2E70876B2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197" y="2898160"/>
                  <a:ext cx="778260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9836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D74D2D9-469D-67FE-3ACB-87B4AB8BA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7462" y="3400425"/>
              <a:ext cx="2596701" cy="145446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34A9E77-073B-F062-443B-FEED4D20D895}"/>
                    </a:ext>
                  </a:extLst>
                </p:cNvPr>
                <p:cNvSpPr txBox="1"/>
                <p:nvPr/>
              </p:nvSpPr>
              <p:spPr>
                <a:xfrm>
                  <a:off x="5384231" y="3264408"/>
                  <a:ext cx="7782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34A9E77-073B-F062-443B-FEED4D20D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4231" y="3264408"/>
                  <a:ext cx="778260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9836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DC413C0-1249-C6DB-27D2-0A00BC528C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4650" y="1646131"/>
              <a:ext cx="515144" cy="52080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94CB969-C938-F9BA-14A2-80F58BFDACE5}"/>
                    </a:ext>
                  </a:extLst>
                </p:cNvPr>
                <p:cNvSpPr txBox="1"/>
                <p:nvPr/>
              </p:nvSpPr>
              <p:spPr>
                <a:xfrm>
                  <a:off x="5191534" y="1831584"/>
                  <a:ext cx="7782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𝐫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94CB969-C938-F9BA-14A2-80F58BFDA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534" y="1831584"/>
                  <a:ext cx="778260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9836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ABD777-5AE5-E5D1-9CA5-F738771480D0}"/>
                    </a:ext>
                  </a:extLst>
                </p:cNvPr>
                <p:cNvSpPr txBox="1"/>
                <p:nvPr/>
              </p:nvSpPr>
              <p:spPr>
                <a:xfrm>
                  <a:off x="7110086" y="3359825"/>
                  <a:ext cx="7782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𝐫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ABD777-5AE5-E5D1-9CA5-F73877148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0086" y="3359825"/>
                  <a:ext cx="778260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9836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E368339-4B3F-E379-0AB9-5E897EC08CAB}"/>
                </a:ext>
              </a:extLst>
            </p:cNvPr>
            <p:cNvCxnSpPr>
              <a:cxnSpLocks/>
            </p:cNvCxnSpPr>
            <p:nvPr/>
          </p:nvCxnSpPr>
          <p:spPr>
            <a:xfrm>
              <a:off x="6956227" y="3414511"/>
              <a:ext cx="470164" cy="597081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03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817F-770C-3582-CAE5-3F3EB02B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1CAC-D3BC-557C-ABCB-B252147F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5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Lagrangian</a:t>
            </a:r>
            <a:endParaRPr lang="en-US" sz="5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9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2389-3881-A44A-1B87-6461C46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5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Lagrangian</a:t>
            </a:r>
            <a:endParaRPr lang="en-US" sz="5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FC0224-B0E0-278B-85CA-CF305A51A315}"/>
                  </a:ext>
                </a:extLst>
              </p:cNvPr>
              <p:cNvSpPr txBox="1"/>
              <p:nvPr/>
            </p:nvSpPr>
            <p:spPr>
              <a:xfrm>
                <a:off x="4029191" y="2477072"/>
                <a:ext cx="4133618" cy="1557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  <m:t>𝐫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FC0224-B0E0-278B-85CA-CF305A51A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191" y="2477072"/>
                <a:ext cx="4133618" cy="1557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9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3969-DA51-EC02-DABC-AEF3049F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C927-C306-84CF-E714-A4BDCE4D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5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Lagrangian</a:t>
            </a:r>
            <a:endParaRPr lang="en-US" sz="5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D317C0-253C-75CD-2F9F-25784E037230}"/>
                  </a:ext>
                </a:extLst>
              </p:cNvPr>
              <p:cNvSpPr txBox="1"/>
              <p:nvPr/>
            </p:nvSpPr>
            <p:spPr>
              <a:xfrm>
                <a:off x="371192" y="2477072"/>
                <a:ext cx="11449616" cy="1620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∑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𝐣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D317C0-253C-75CD-2F9F-25784E037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92" y="2477072"/>
                <a:ext cx="11449616" cy="1620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99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448CD-BD88-21B1-ECC1-13DA62D3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98D9-73DC-D8FD-8F9B-F65B88C3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5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Lagrangian</a:t>
            </a:r>
            <a:endParaRPr lang="en-US" sz="5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9FB9E-12E1-8C28-4611-DE1573E2D4C4}"/>
                  </a:ext>
                </a:extLst>
              </p:cNvPr>
              <p:cNvSpPr txBox="1"/>
              <p:nvPr/>
            </p:nvSpPr>
            <p:spPr>
              <a:xfrm>
                <a:off x="371192" y="2618778"/>
                <a:ext cx="11449616" cy="1620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  <m:t>𝐫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∑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𝐣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9FB9E-12E1-8C28-4611-DE1573E2D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92" y="2618778"/>
                <a:ext cx="11449616" cy="1620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9041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5574-98F2-8F6D-302A-1211EB7C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B9A0-5AE1-09E4-BC7C-1A0BD0C1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Equations of Motion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18466A-4FD5-D715-F038-493783C157AF}"/>
                  </a:ext>
                </a:extLst>
              </p:cNvPr>
              <p:cNvSpPr txBox="1"/>
              <p:nvPr/>
            </p:nvSpPr>
            <p:spPr>
              <a:xfrm>
                <a:off x="371192" y="1949107"/>
                <a:ext cx="11449616" cy="3760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den>
                      </m:f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𝐫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𝐫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𝐣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𝐣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18466A-4FD5-D715-F038-493783C15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92" y="1949107"/>
                <a:ext cx="11449616" cy="3760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503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80F9-5AFC-61A3-96FB-3B379254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F4EF-E447-4642-736A-59535F71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Equations of Motion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4FC652-9B20-0FB2-FE87-1EA9FE5CCAD5}"/>
                  </a:ext>
                </a:extLst>
              </p:cNvPr>
              <p:cNvSpPr txBox="1"/>
              <p:nvPr/>
            </p:nvSpPr>
            <p:spPr>
              <a:xfrm>
                <a:off x="371192" y="1825997"/>
                <a:ext cx="11449616" cy="37600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𝐫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𝐫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𝐣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𝐣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4FC652-9B20-0FB2-FE87-1EA9FE5CC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92" y="1825997"/>
                <a:ext cx="11449616" cy="3760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43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06AF-9516-30FF-490E-9815A386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9A9E-8024-927D-20BD-31F50BB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Leapfrog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DBC7-4D26-5047-3C6C-33A871957656}"/>
                  </a:ext>
                </a:extLst>
              </p:cNvPr>
              <p:cNvSpPr txBox="1"/>
              <p:nvPr/>
            </p:nvSpPr>
            <p:spPr>
              <a:xfrm>
                <a:off x="371192" y="2523560"/>
                <a:ext cx="11449616" cy="1810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m:rPr>
                              <m:lit/>
                            </m:rPr>
                            <a:rPr lang="en-US" sz="36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lit/>
                        </m:rPr>
                        <a:rPr lang="en-US" sz="36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m:rPr>
                              <m:lit/>
                            </m:r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m:rPr>
                              <m:lit/>
                            </m:r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m:rPr>
                          <m:lit/>
                        </m:rP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DBC7-4D26-5047-3C6C-33A871957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92" y="2523560"/>
                <a:ext cx="11449616" cy="1810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949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28A6-A690-6CC1-7C5D-8DF46714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0B59-32C8-8290-19E3-1268E3C7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3-Body Animation</a:t>
            </a:r>
          </a:p>
        </p:txBody>
      </p:sp>
    </p:spTree>
    <p:extLst>
      <p:ext uri="{BB962C8B-B14F-4D97-AF65-F5344CB8AC3E}">
        <p14:creationId xmlns:p14="http://schemas.microsoft.com/office/powerpoint/2010/main" val="314924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723E-041A-1079-C23D-57FA276F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AA2B-2C2D-CD6B-5CF3-9079F3D3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Solar System (N=9) Animation</a:t>
            </a:r>
          </a:p>
        </p:txBody>
      </p:sp>
    </p:spTree>
    <p:extLst>
      <p:ext uri="{BB962C8B-B14F-4D97-AF65-F5344CB8AC3E}">
        <p14:creationId xmlns:p14="http://schemas.microsoft.com/office/powerpoint/2010/main" val="380598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9538-8AB3-49B0-A413-4077D2E9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78A4-C446-0E9D-F98A-C98F6BD2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Solar System (N=109) Animation</a:t>
            </a:r>
          </a:p>
        </p:txBody>
      </p:sp>
    </p:spTree>
    <p:extLst>
      <p:ext uri="{BB962C8B-B14F-4D97-AF65-F5344CB8AC3E}">
        <p14:creationId xmlns:p14="http://schemas.microsoft.com/office/powerpoint/2010/main" val="1164234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FD89-DDE4-296A-0BFD-17EE671C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DD296-C950-2601-5294-00F9B146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Expanding the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04CB0-E066-D10E-8749-67ABE5B82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would like to run the simulation for n → ∞ bodies.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545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FFE3-2629-36CB-7F52-C3A36AF7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8891-644C-4A40-37EF-DFE873B2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Expanding the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3C8F3-BFC4-DCDB-7DAC-779AFAAF2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would like to run the simulation for n → ∞ bodies.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would like to do this without emptying Dr. Brandenburg’s OSC budget.</a:t>
            </a:r>
          </a:p>
        </p:txBody>
      </p:sp>
    </p:spTree>
    <p:extLst>
      <p:ext uri="{BB962C8B-B14F-4D97-AF65-F5344CB8AC3E}">
        <p14:creationId xmlns:p14="http://schemas.microsoft.com/office/powerpoint/2010/main" val="2224854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08F7-31C9-83B1-7AB1-B52753E1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757E-6501-11B4-0A98-AAF1B6DA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Running Time</a:t>
            </a:r>
          </a:p>
        </p:txBody>
      </p:sp>
      <p:pic>
        <p:nvPicPr>
          <p:cNvPr id="1026" name="Picture 2" descr="Charlton's Blog - Binary Search O(Log N)">
            <a:extLst>
              <a:ext uri="{FF2B5EF4-FFF2-40B4-BE49-F238E27FC236}">
                <a16:creationId xmlns:a16="http://schemas.microsoft.com/office/drawing/2014/main" id="{79F67B44-4640-D44A-2AAA-3F264F388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7" b="7413"/>
          <a:stretch>
            <a:fillRect/>
          </a:stretch>
        </p:blipFill>
        <p:spPr bwMode="auto">
          <a:xfrm>
            <a:off x="7233718" y="992208"/>
            <a:ext cx="4740565" cy="451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1C1376C-3B10-FE23-54C0-28DF747732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549002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Making every comparison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“running time”.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“Barnes-Hut” approximation takes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) “running time”.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1C1376C-3B10-FE23-54C0-28DF7477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490029" cy="4351338"/>
              </a:xfrm>
              <a:prstGeom prst="rect">
                <a:avLst/>
              </a:prstGeom>
              <a:blipFill>
                <a:blip r:embed="rId4"/>
                <a:stretch>
                  <a:fillRect l="-2000" t="-2381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9453F97-FFC4-A9D8-8DF0-B49F742278B2}"/>
              </a:ext>
            </a:extLst>
          </p:cNvPr>
          <p:cNvSpPr txBox="1"/>
          <p:nvPr/>
        </p:nvSpPr>
        <p:spPr>
          <a:xfrm>
            <a:off x="8507994" y="5576935"/>
            <a:ext cx="183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Input Size (n)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5C19A-0DF3-21CD-5C4E-22355F543CE9}"/>
              </a:ext>
            </a:extLst>
          </p:cNvPr>
          <p:cNvSpPr txBox="1"/>
          <p:nvPr/>
        </p:nvSpPr>
        <p:spPr>
          <a:xfrm rot="16200000">
            <a:off x="6628871" y="3312521"/>
            <a:ext cx="778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98222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8B8AD-A9B2-B55E-3DA0-E88582D6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5B34-65F0-46E1-B8FC-282F5E5F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Barnes-Hut</a:t>
            </a:r>
          </a:p>
        </p:txBody>
      </p:sp>
      <p:pic>
        <p:nvPicPr>
          <p:cNvPr id="2050" name="Picture 2" descr="Debugging a Quadtree in C">
            <a:extLst>
              <a:ext uri="{FF2B5EF4-FFF2-40B4-BE49-F238E27FC236}">
                <a16:creationId xmlns:a16="http://schemas.microsoft.com/office/drawing/2014/main" id="{13B77BC6-D8F3-0146-53C5-1C4E6128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1482725"/>
            <a:ext cx="668020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623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4826-D214-2016-F5F2-13BAC79A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140F-B174-DB56-F89A-19654D23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C540C-384F-D624-C973-0D8C9A8DE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to use the Manim Library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1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3C48-453A-93F5-2AFB-133FC426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3FAE-24DE-19B4-1B94-D6371636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0F590-C260-AD18-821A-53E1580C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to use the Manim library.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 </a:t>
            </a:r>
            <a:r>
              <a:rPr lang="en-US"/>
              <a:t>Hamiltonian 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32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c0dbbd1-13cd-4f7b-84b3-ab53d1d517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45AA6B6478F94EA4A1519C8F3D2222" ma:contentTypeVersion="18" ma:contentTypeDescription="Create a new document." ma:contentTypeScope="" ma:versionID="4bfd82841961bc8a8a8f9ebd6ce767ea">
  <xsd:schema xmlns:xsd="http://www.w3.org/2001/XMLSchema" xmlns:xs="http://www.w3.org/2001/XMLSchema" xmlns:p="http://schemas.microsoft.com/office/2006/metadata/properties" xmlns:ns3="7005bccc-ba85-4f63-88a9-26f3cfdf260a" xmlns:ns4="fc0dbbd1-13cd-4f7b-84b3-ab53d1d517dc" targetNamespace="http://schemas.microsoft.com/office/2006/metadata/properties" ma:root="true" ma:fieldsID="6320122365b9937826fe423f39c9ceb1" ns3:_="" ns4:_="">
    <xsd:import namespace="7005bccc-ba85-4f63-88a9-26f3cfdf260a"/>
    <xsd:import namespace="fc0dbbd1-13cd-4f7b-84b3-ab53d1d517d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5bccc-ba85-4f63-88a9-26f3cfdf26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0dbbd1-13cd-4f7b-84b3-ab53d1d5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46DF34-8F47-4ABB-9451-EDAC80D20522}">
  <ds:schemaRefs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  <ds:schemaRef ds:uri="fc0dbbd1-13cd-4f7b-84b3-ab53d1d517dc"/>
    <ds:schemaRef ds:uri="http://schemas.microsoft.com/office/2006/documentManagement/types"/>
    <ds:schemaRef ds:uri="7005bccc-ba85-4f63-88a9-26f3cfdf260a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E801F51-250C-40D3-838E-C9970ACCA4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05bccc-ba85-4f63-88a9-26f3cfdf260a"/>
    <ds:schemaRef ds:uri="fc0dbbd1-13cd-4f7b-84b3-ab53d1d517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7204F0-17A8-4930-927B-AAE0D6CD2B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819</Words>
  <Application>Microsoft Office PowerPoint</Application>
  <PresentationFormat>Widescreen</PresentationFormat>
  <Paragraphs>114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The N-Body Problem</vt:lpstr>
      <vt:lpstr>The Coordinates</vt:lpstr>
      <vt:lpstr>The Lagrangian</vt:lpstr>
      <vt:lpstr>The Lagrangian</vt:lpstr>
      <vt:lpstr>The Lagrangian</vt:lpstr>
      <vt:lpstr>The Lagrangian</vt:lpstr>
      <vt:lpstr>The Equations of Motion</vt:lpstr>
      <vt:lpstr>The Equations of Motion</vt:lpstr>
      <vt:lpstr>Leapfrog Integration</vt:lpstr>
      <vt:lpstr>3-Body Animation</vt:lpstr>
      <vt:lpstr>Solar System (N=9) Animation</vt:lpstr>
      <vt:lpstr>Solar System (N=109) Animation</vt:lpstr>
      <vt:lpstr>Expanding the Simulation</vt:lpstr>
      <vt:lpstr>Expanding the Simulation</vt:lpstr>
      <vt:lpstr>Running Time</vt:lpstr>
      <vt:lpstr>Barnes-Hut</vt:lpstr>
      <vt:lpstr>What I Learned</vt:lpstr>
      <vt:lpstr>What I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Carroll, Xander</dc:creator>
  <cp:lastModifiedBy>Carroll, Xander</cp:lastModifiedBy>
  <cp:revision>4</cp:revision>
  <dcterms:created xsi:type="dcterms:W3CDTF">2025-12-09T05:34:55Z</dcterms:created>
  <dcterms:modified xsi:type="dcterms:W3CDTF">2025-12-12T16:59:52Z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0x0101008A45AA6B6478F94EA4A1519C8F3D2222</vt:lpwstr>
  </property>
</Properties>
</file>